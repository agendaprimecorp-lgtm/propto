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Propto é o sistema do corretor: ele fala e fotografa, o anúncio sai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a cinco horas por imóvel. É por isso que a carteira do corretor autônomo é pequena.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insight central do produto e a razão de não começarmos pelo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que importa é o segundo: menos de 5 minutos de trabalho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gravação de três minutos dispara as nove etapas. O corretor só confirma.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áudio-âncora é o que separa este produto de um transcritor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argumento jurídico mais forte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verificação determinística vem primeiro e é a que manda.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página pública já está construída e no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Agente é função pura: não guarda memória e não escreve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Numa venda para imobiliária, este é o slide que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gateway serve três produtos. É um ativo da PrimeCorp, não só do Propto.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730 mil é o universo. O alvo do primeiro ano é o autônomo com CRECI 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maquiar a margem aqui é o que dá credibilidade ao resto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Metade do caminho está feita — e é a metade que normalmente se subestima.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Piloto Zero antecipa a validação comercial em dois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Critérios definidos antes de começar, para não se enganar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O contato é o do Rodrigo.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3504" y="22860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0" b="1" spc="-40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</a:t>
            </a:r>
            <a:pPr indent="0" marL="0">
              <a:buNone/>
            </a:pPr>
            <a:r>
              <a:rPr lang="en-US" sz="9200" b="1" spc="-40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</a:t>
            </a:r>
            <a:pPr indent="0" marL="0">
              <a:buNone/>
            </a:pPr>
            <a:r>
              <a:rPr lang="en-US" sz="9200" b="1" spc="-40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pto</a:t>
            </a:r>
            <a:endParaRPr lang="en-US" sz="92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3977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AF8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corretor fala e fotografa. O anúncio sai pronto, tratado e no ar.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propto.com.br · setembro de 2026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961327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 produto PrimeCorp Brokers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corretor autônomo perde a maior parte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 tempo produtivo em trabalho administrativo.</a:t>
            </a:r>
            <a:endParaRPr lang="en-US" sz="2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212848"/>
          <a:ext cx="10874959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920240"/>
                <a:gridCol w="502005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6E686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ETAPA, HOJE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6E686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TEMPO MÉDIO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6E686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QUALIDADE DO RESULTADO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Visita e anotação do imóvel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30–60 min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Caderno, WhatsApp, memória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Digitação do cadastro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20–40 min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Campos faltando, dados inconsistentes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Tratamento das fotos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30–90 min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Foto escura, torta, com placa e rosto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Escrita do anúncio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20–45 min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Texto genérico, copiado, com erro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Publicação em cada canal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15–30 min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Retrabalho manual por canal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Follow-up com interessados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disperso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Lead esfria, nada fica registrado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 por imóvel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1B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 a 5 horas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C1B1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Carteira pequena, anúncio ruim, lead perdido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Trinta imóveis em carteira, ao ritmo de hoje, consomem entre 60 e 150 horas só de trabalho administrativo. É a semana inteira do corretor, todo mês, em algo que não é venda.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37160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spc="-14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 não é falta de CRM.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spc="-14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É que o dado 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nunca chega</a:t>
            </a:r>
            <a:pPr indent="0" marL="0">
              <a:lnSpc>
                <a:spcPct val="108000"/>
              </a:lnSpc>
              <a:buNone/>
            </a:pPr>
            <a:r>
              <a:rPr lang="en-US" sz="4000" b="1" spc="-14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ao CRM.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6576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sistema do mercado começa pelo CRM e presume que alguém vai alimentá-lo. Ninguém alimenta — porque alimentar custa de duas a cinco horas por imóvel. O Propto inverte a ordem: começa pela captura, e o CRM nasce do dado que a operação já gerou.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5029200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tem a captura tem o dado   ·   quem tem o dado tem o encontro   ·   quem tem o encontro tem a venda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MUDA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 porta ao anúncio publicado.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28600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56032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HOJE, SEM O PROPTO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6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 a 5 h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3657600"/>
            <a:ext cx="4169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 humano do início ao fim, espalhado por vários dias e vários aplicativos.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504688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144768" y="2286000"/>
            <a:ext cx="4754880" cy="2286000"/>
          </a:xfrm>
          <a:prstGeom prst="roundRect">
            <a:avLst>
              <a:gd name="adj" fmla="val 2400"/>
            </a:avLst>
          </a:prstGeom>
          <a:solidFill>
            <a:srgbClr val="2A1614"/>
          </a:solidFill>
          <a:ln w="12700">
            <a:solidFill>
              <a:srgbClr val="E844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7376" y="256032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 DO PRODUTO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19088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menos de 15 min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437376" y="3657600"/>
            <a:ext cx="4169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Sendo menos de 5 minutos de trabalho humano. O resto é a máquina processando enquanto o corretor vai para a próxima visita.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029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duas métricas-mãe do produto: tempo até publicar e tempo de trabalho humano. É possível ter a primeira boa e a segunda ruim — nesse caso o produto não resolveu nada, só mudou o trabalho de lugar.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Nove etapas, uma gravação.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21625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2148840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Capturar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2441448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corretor grava falando enquanto anda pelo imóvel e fotografa. Funciona sem internet.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74794" y="214884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74794" y="21625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95418" y="2148840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Entender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795418" y="2441448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fala vira ficha estruturada, com confiança e o trecho de áudio que originou cada dado.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1221" y="214884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1221" y="21625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511845" y="2148840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Organizar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511845" y="2441448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fotos são classificadas por ambiente, ordenadas e a capa é escolhida.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3575304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5890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3575304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Tratar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3867912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Exposição, enquadramento, e o obrigatório: rosto e placa borrados, metadados removidos.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74794" y="3575304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74794" y="35890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795418" y="3575304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Escrever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795418" y="3867912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Título, descrição e destaques, mais as versões para portal, Instagram e WhatsApp.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91221" y="3575304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91221" y="35890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511845" y="3575304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Apresentar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511845" y="3867912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página própria do imóvel, rápida, com ficha, galeria e o CRECI do responsável.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58368" y="50017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0154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78992" y="500176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Publicar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1078992" y="5294376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único para mandar no WhatsApp, com cartão de prévia gerado automaticamente.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374794" y="50017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74794" y="50154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4795418" y="500176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Acompanhar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4795418" y="5294376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Visita, clique e mensagem viram lead no funil, com alerta quando esfria.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91221" y="50017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FAF8F5"/>
          </a:solidFill>
          <a:ln w="9525">
            <a:solidFill>
              <a:srgbClr val="CC1B1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91221" y="50154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511845" y="5001768"/>
            <a:ext cx="302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Encontrar comprador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8511845" y="5294376"/>
            <a:ext cx="30214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Imóvel novo varre a base de compradores. Comprador novo varre a carteira.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FUNCIONALIDADES · CAPTURAR E ENTENDER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fala do corretor é a matéria-prima.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9536" y="233172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GRAVAÇÃO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5511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Grava com a tela bloqueada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89864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corretor guarda o celular no bolso e continua falando. Sobrevive a ligação recebida.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6986" y="214884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88154" y="233172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CAMPO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88154" y="25511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Funciona sem internet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88154" y="289864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Cem por cento da captura é offline. O áudio entra na fila e sobe sozinho quando a rede voltar.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15605" y="214884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16773" y="233172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EXTRAÇÃO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316773" y="255117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Confiança campo a campo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316773" y="289864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dado vem com o quanto o sistema confia nele. Abaixo de 0,7 aparece destacado — não passa em silêncio.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389077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59536" y="407365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429310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Áudio-âncora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64058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tocar em um campo, o trecho exato da gravação que originou aquele dado toca de volta. O corretor ouve a prova.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6986" y="389077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88154" y="407365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FOTOS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588154" y="429310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Até 40 por imóvel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88154" y="464058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resiliente: sobrevive ao aplicativo ser fechado no meio e retoma de onde parou.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115605" y="389077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316773" y="407365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CORREÇÃO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316773" y="429310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Complemento sem perder edição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316773" y="464058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Gravar de novo para completar não apaga o que o corretor já corrigiu à mão.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FUNCIONALIDADES · TRATAR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Nenhuma foto vai ao ar sem tratamento.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56816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não é uma opção de configuração. É uma restrição do banco de dados: a foto só recebe o estado "pronta" se rosto e placa estiverem borrados e os metadados removidos. E só foto pronta é publicável.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58368" y="3017520"/>
            <a:ext cx="2513000" cy="1684274"/>
          </a:xfrm>
          <a:prstGeom prst="roundRect">
            <a:avLst>
              <a:gd name="adj" fmla="val 325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9536" y="320040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OBRIGATÓRIO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419856"/>
            <a:ext cx="2110664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Rosto e placa borrados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860546"/>
            <a:ext cx="2110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 de 95% de recall. Falso negativo aqui é exposição jurídica, não defeito estético.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45688" y="3017520"/>
            <a:ext cx="2513000" cy="1684274"/>
          </a:xfrm>
          <a:prstGeom prst="roundRect">
            <a:avLst>
              <a:gd name="adj" fmla="val 325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46856" y="320040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OBRIGATÓRIO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3646856" y="3419856"/>
            <a:ext cx="211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Metadados removidos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646856" y="3767328"/>
            <a:ext cx="2110664" cy="769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foto do celular carrega a coordenada de onde foi tirada. Sai antes de ir ao ar.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3008" y="3017520"/>
            <a:ext cx="2513000" cy="1684274"/>
          </a:xfrm>
          <a:prstGeom prst="roundRect">
            <a:avLst>
              <a:gd name="adj" fmla="val 325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34176" y="320040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AUTOMÁTICO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3419856"/>
            <a:ext cx="2110664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Exposição e perspectiva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34176" y="3860546"/>
            <a:ext cx="21106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Corrige foto escura e parede torta. O original é preservado, sempre.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20327" y="3017520"/>
            <a:ext cx="2513000" cy="1684274"/>
          </a:xfrm>
          <a:prstGeom prst="roundRect">
            <a:avLst>
              <a:gd name="adj" fmla="val 325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221495" y="320040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AUTOMÁTICO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9221495" y="3419856"/>
            <a:ext cx="211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Descarte sugerido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221495" y="3767328"/>
            <a:ext cx="2110664" cy="769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tremida, escura ou repetida é apontada. Duplicata é detectada por cálculo, não por opinião.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FUNCIONALIDADES · ESCREVER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texto passa por um fiscal antes de existir.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sai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48716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de até 70 caracteres, descrição longa e de três a seis destaques. Mais as versões por canal: portal, legenda de Instagram com hashtags, mensagem curta de WhatsApp e a descrição de busca para o Google.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6393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nunca sai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98678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005072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imperdível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45920" y="3986784"/>
            <a:ext cx="1477670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45920" y="4005072"/>
            <a:ext cx="1477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 única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33318" y="3986784"/>
            <a:ext cx="1177747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33318" y="4005072"/>
            <a:ext cx="11777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unidade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8368" y="4352544"/>
            <a:ext cx="1327709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4370832"/>
            <a:ext cx="13277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da região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095805" y="4352544"/>
            <a:ext cx="1702613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095805" y="4370832"/>
            <a:ext cx="17026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valorização garantida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908146" y="4352544"/>
            <a:ext cx="1627632" cy="274320"/>
          </a:xfrm>
          <a:prstGeom prst="roundRect">
            <a:avLst>
              <a:gd name="adj" fmla="val 50000"/>
            </a:avLst>
          </a:prstGeom>
          <a:solidFill>
            <a:srgbClr val="F7E6E6"/>
          </a:solidFill>
          <a:ln w="9525">
            <a:solidFill>
              <a:srgbClr val="E8C4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08146" y="437083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100% ok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47548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 qualquer referência a perfil de morador — família, religião, origem, estado civil, presença de crianças.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492240" y="2148840"/>
            <a:ext cx="5041087" cy="2377440"/>
          </a:xfrm>
          <a:prstGeom prst="roundRect">
            <a:avLst>
              <a:gd name="adj" fmla="val 2308"/>
            </a:avLst>
          </a:prstGeom>
          <a:solidFill>
            <a:srgbClr val="F2EEE9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693408" y="2331720"/>
            <a:ext cx="46387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COMO O FISCAL TRABALHA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693408" y="255117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Primeiro a conta, depois a leitura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693408" y="2898648"/>
            <a:ext cx="463875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primeira verificação não usa inteligência artificial: o sistema extrai todo número do texto e confronta com a ficha do imóvel. Metragem divergente, preço trocado, telefone ou CPF vazando no corpo do anúncio — tudo pego por conta, não por opinião.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depois um segundo agente lê o texto procurando promessa implícita, afirmação sem base e discriminação velada.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93408" y="4718304"/>
            <a:ext cx="483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C1B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Bloqueio impede a publicação. Não é aviso.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5650992"/>
            <a:ext cx="108749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Campo que não foi dito vira vazio, nunca estimativa. Não inventar é regra dura: uma regressão em alucinação trava a entrega do código.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FUNCIONALIDADES · APRESENTAR, PUBLICAR E ACOMPANHAR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Uma página por imóvel, com o CRECI de quem responde.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33172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9536" y="251460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PÁGINA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73405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Endereço próprio e rápido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08152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Galeria, ficha técnica, mapa e os dados do corretor. Carrega em menos de 2,5 segundos no 4G.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6986" y="233172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88154" y="251460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PRIVACIDADE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88154" y="273405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Endereço em três níveis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88154" y="308152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Exato, só a rua, ou só o bairro. O corretor escolhe por imóvel e vê antes o que o público verá.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15605" y="2331720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16773" y="2514600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DISTRIBUIÇÃO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316773" y="2734056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Cartão pronto para o WhatsApp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316773" y="3081528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colar o link aparece preço, código e foto. O botão abre a conversa com a mensagem já escrita.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" y="407365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59536" y="425653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MEDIÇÃO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447598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Visita e clique registrados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82346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guardar IP de ninguém. O corretor sabe quantos viram; ninguém sabe quem foram.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386986" y="407365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88154" y="425653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FUNIL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588154" y="447598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Lead vira negócio sozinho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88154" y="482346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preenche o formulário entra no funil de oito estágios, com o consentimento registrado palavra por palavra.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115605" y="4073652"/>
            <a:ext cx="3417722" cy="1431036"/>
          </a:xfrm>
          <a:prstGeom prst="roundRect">
            <a:avLst>
              <a:gd name="adj" fmla="val 3834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316773" y="4256532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ENCONTRO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316773" y="4475988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Busca nos dois sentidos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316773" y="4823460"/>
            <a:ext cx="3015386" cy="51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Imóvel novo varre a base de compradores; comprador novo varre a carteira, com justificativa em texto.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DENTRO DO PRODUTO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Nove agentes, cada um com uma responsabilidade.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deles escreve no banco de dados. Todos devolvem confiança. Saída fora do formato esperado é descartada, não remendada.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85292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" y="279806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A1 · Transcritor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02666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transcribe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23697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 a fala em texto com marcação de tempo, com glossário de jargão imobiliário.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86986" y="285292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24730" y="279806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A2 · Extrator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24730" y="302666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extract_property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624730" y="323697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a fala corrida em ficha estruturada. O agente mais importante do produto.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15605" y="285292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3349" y="279806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A3 · Curador de mídia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53349" y="302666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classify_photo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353349" y="323697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 o ambiente, dá nota à foto e detecta rosto, placa e item pessoal.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385876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" y="380390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A4 · Redator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" y="403250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write_listing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96112" y="424281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Escreve o anúncio a partir apenas dos dados confirmados pelo corretor.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386986" y="385876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24730" y="380390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A5 · Compliance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624730" y="403250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compliance_check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624730" y="424281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Portão obrigatório. Aprova ou bloqueia, apontando o que está errado.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115605" y="385876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3349" y="380390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A6 · Faixa de preço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353349" y="403250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price_range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353349" y="424281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Faixa indicativa com comparáveis e ressalvas. Nunca chamada de avaliação.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8368" y="48646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6112" y="480974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A7 · Perfilador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96112" y="503834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extract_requirements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96112" y="524865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Extrai o que o comprador quer, separando o essencial do desejável.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386986" y="48646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24730" y="480974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A8 · Matcher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624730" y="503834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match_explain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4624730" y="524865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 por que imóvel e comprador casam. A nota é calculada em código, não pelo modelo.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115605" y="4864608"/>
            <a:ext cx="146304" cy="14630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53349" y="480974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A9 · Follow-up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353349" y="5038344"/>
            <a:ext cx="3179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suggest_followup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8353349" y="5248656"/>
            <a:ext cx="317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Sugere a próxima mensagem ao lead. Nunca envia: abre o WhatsApp preenchido.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5833872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violeta identifica conteúdo proposto por inteligência artificial — no produto inteiro, essa cor só aparece onde a máquina propôs algo que o corretor ainda vai confirmar.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QUE ISSO IMPORTA JURIDICAMENTE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 quatro travas que o produto tem e a planilha não tem.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2513000" cy="20043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9536" y="233172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DIREITO DE IMAGEM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551176"/>
            <a:ext cx="2110664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Anonimização bloqueante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991866"/>
            <a:ext cx="2110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rosto ou placa legível é risco real. A foto não chega à área pública sem tratamento: a regra está no banco, não na boa vontade do usuário.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45688" y="2148840"/>
            <a:ext cx="2513000" cy="20043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46856" y="233172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LEI 6.530/1978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646856" y="2551176"/>
            <a:ext cx="211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CRECI na página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3646856" y="2898648"/>
            <a:ext cx="2110664" cy="1089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publica imóvel de corretor com CRECI informado, e o número aparece no anúncio.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33008" y="2148840"/>
            <a:ext cx="2513000" cy="20043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34176" y="233172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LEI 13.709/2018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434176" y="2551176"/>
            <a:ext cx="2110664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Consentimento versionado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2991866"/>
            <a:ext cx="2110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Fica gravado o texto exato que a pessoa leu ao aceitar. Sem consentimento, a mensagem não é enviada. Visitas são contadas sem guardar IP.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20327" y="2148840"/>
            <a:ext cx="2513000" cy="20043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221495" y="2331720"/>
            <a:ext cx="211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DEFESA DO CONSUMIDOR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9221495" y="2551176"/>
            <a:ext cx="2110664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Anúncio que não promete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9221495" y="2991866"/>
            <a:ext cx="211066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divergente do cadastro e promessa sem base bloqueiam a publicação. O anúncio só afirma o que está no dado.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394960"/>
            <a:ext cx="108749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corretor enxerga apenas a própria carteira e os próprios leads. O isolamento é verificado por teste automático que impede a entrega do código se falhar.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inteligência artificial é um ativo da casa,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 uma peça dentro do aplicativo.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5798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AI Gateway é um serviço independente. Roteia cada tarefa para o modelo certo, troca de provedor sozinho quando um falha, corta o gasto quando o orçamento acaba e registra custo por organização e por tarefa. Três produtos da PrimeCorp usam a mesma infraestrutura.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3127248"/>
            <a:ext cx="3417722" cy="1271016"/>
          </a:xfrm>
          <a:prstGeom prst="roundRect">
            <a:avLst>
              <a:gd name="adj" fmla="val 431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9536" y="3310128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PROPTO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3529584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Imóveis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3877056"/>
            <a:ext cx="301538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Transcrição, extração, fotos, redação e compliance.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86986" y="3127248"/>
            <a:ext cx="3417722" cy="1271016"/>
          </a:xfrm>
          <a:prstGeom prst="roundRect">
            <a:avLst>
              <a:gd name="adj" fmla="val 431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588154" y="3310128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VERIMULTA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588154" y="3529584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Multas de trânsito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88154" y="3877056"/>
            <a:ext cx="301538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gateway, chave própria, orçamento próprio.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15605" y="3127248"/>
            <a:ext cx="3417722" cy="1271016"/>
          </a:xfrm>
          <a:prstGeom prst="roundRect">
            <a:avLst>
              <a:gd name="adj" fmla="val 4317"/>
            </a:avLst>
          </a:prstGeom>
          <a:solidFill>
            <a:srgbClr val="1D1917"/>
          </a:solidFill>
          <a:ln w="9525">
            <a:solidFill>
              <a:srgbClr val="39322F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316773" y="3310128"/>
            <a:ext cx="30153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PRIMEGOV IA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316773" y="3529584"/>
            <a:ext cx="3015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Municípios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316773" y="3877056"/>
            <a:ext cx="301538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Terceiro consumidor previsto da mesma base.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4572000"/>
            <a:ext cx="251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5175504"/>
            <a:ext cx="251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provedores, com troca automática em caso de falha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445688" y="4572000"/>
            <a:ext cx="251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402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3445688" y="5175504"/>
            <a:ext cx="251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resposta quando o orçamento da organização acaba — corte rígido, alerta em 80%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233008" y="4572000"/>
            <a:ext cx="251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≥20%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6233008" y="5175504"/>
            <a:ext cx="251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economia esperada com cache semântico nas tarefas repetitivas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020327" y="4572000"/>
            <a:ext cx="251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4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9020327" y="5175504"/>
            <a:ext cx="251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 chamadas registradas com custo, inclusive as que falharam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9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730 mil corretores no Brasil.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Começamos por um perfil específico.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Quem é o cliente do primeiro ano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6E686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CRITÉRIO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6E686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PERFIL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Registro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CRECI ativo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Estrutura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Sozinho ou com um assistente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Carteira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 a 60 imóveis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Ticket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R$ 250 mil a R$ 50 milhões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Onde trabalha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 celular, em campo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Onde publica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Portais, Instagram, WhatsApp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Marketing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100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Não tem equipe e não vai contratar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FD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92240" y="2377440"/>
            <a:ext cx="5041087" cy="1691640"/>
          </a:xfrm>
          <a:prstGeom prst="roundRect">
            <a:avLst>
              <a:gd name="adj" fmla="val 3243"/>
            </a:avLst>
          </a:prstGeom>
          <a:solidFill>
            <a:srgbClr val="F2EEE9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693408" y="2560320"/>
            <a:ext cx="46387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ONDE COMEÇA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6693408" y="2779776"/>
            <a:ext cx="46387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Campinas e Sumaré, com carteira real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693408" y="3127248"/>
            <a:ext cx="46387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produto é operado desde o primeiro dia na carteira de um corretor com CRECI-SP. Nenhuma entrega é aceita sem uso em imóvel de verdade.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92240" y="4315968"/>
            <a:ext cx="5041087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693408" y="4498848"/>
            <a:ext cx="46387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FORA DO ESCOPO AGORA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6693408" y="4718304"/>
            <a:ext cx="4638751" cy="385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Imobiliária com equipe, incorporadora, gestão de locação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693408" y="5158994"/>
            <a:ext cx="4638751" cy="729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de dados já nasceu preparado para carteira compartilhada e divisão de comissão. É a segunda versão, não a primeira — vender para dois perfis ao mesmo tempo é como se perde os dois.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619963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Cofeci, 730 mil corretores no Brasil (2025).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DE NEGÓCIO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Assinatura mensal, com limite de capturas.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28600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PLANO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MENSAL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IMÓVEIS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CAPTURAS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R$ 97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Corretor Pro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R$ 197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150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Imobiliária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R$ 497+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ilimitado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500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8368" y="42245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Preço é hipótese declarada, a ser validada no piloto. O limite de capturas existe porque o custo de inteligência artificial é variável e real.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aritmética, sem maquiagem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670048"/>
          <a:ext cx="5041087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647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ITEM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spc="120" kern="0" dirty="0">
                          <a:solidFill>
                            <a:srgbClr val="A79C9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VALOR</a:t>
                      </a:r>
                      <a:endParaRPr lang="en-US" sz="8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 de IA por imóvel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R$ 1,87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Uso típico: 30 capturas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R$ 56,00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Receita do plano Corretor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R$ 97,00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Margem no uso típico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42%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teto do plano, 40 capturas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AF8F5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23%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3932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0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492240" y="4992624"/>
            <a:ext cx="504108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meta de 80% é de longo prazo, por cache semântico, escolha de modelo por tarefa e reprecificação. A meta da primeira versão é 40%. Se o uso real ficar perto do teto, o preço sobe ou o limite cai — é decisão de dado, marcada no calendário.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ONDE O PRODUTO ESTÁ HOJE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fundação está construída e verificada.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03120"/>
            <a:ext cx="251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80" kern="0" dirty="0">
                <a:solidFill>
                  <a:srgbClr val="CC1B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242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74320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verificações automáticas, todas executadas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445688" y="2103120"/>
            <a:ext cx="251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80" kern="0" dirty="0">
                <a:solidFill>
                  <a:srgbClr val="CC1B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45688" y="274320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com isolamento entre corretores provado por teste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233008" y="2103120"/>
            <a:ext cx="251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80" kern="0" dirty="0">
                <a:solidFill>
                  <a:srgbClr val="CC1B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233008" y="274320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migrações de banco aplicadas e conferidas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020327" y="2103120"/>
            <a:ext cx="251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80" kern="0" dirty="0">
                <a:solidFill>
                  <a:srgbClr val="CC1B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9020327" y="2743200"/>
            <a:ext cx="251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pública real no ar, lendo do banco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" y="336499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59536" y="354787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PRONTO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376732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Banco de dados completo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411480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Organizações, imóveis, captura, fila, mídia e leads — com as travas de LGPD dentro do banco.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374794" y="336499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575962" y="354787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PRONTO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575962" y="376732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Gateway e tratamento de imagem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5962" y="411480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Roteamento, troca de provedor, orçamento e cache. Borrão conferido pixel a pixel.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1221" y="336499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292389" y="354787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PRONTO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8292389" y="376732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Marca, site e página do imóvel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8292389" y="411480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Identidade visual, site de vendas e a página do imóvel lendo do banco.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58368" y="489661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59536" y="507949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FALTA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59536" y="529894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Aplicativo de captura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59536" y="564642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tela onde o corretor grava e fotografa. É o coração do produto e o próximo item.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74794" y="489661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575962" y="507949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FALTA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575962" y="529894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Painel do corretor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575962" y="564642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Entrar, revisar o rascunho, publicar e ver os leads sem depender de ninguém.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091221" y="4896612"/>
            <a:ext cx="3442106" cy="12573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292389" y="5079492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FALTA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292389" y="5298948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CRM, encontro e cobrança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8292389" y="5646420"/>
            <a:ext cx="30397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Funil, busca comprador × imóvel e a assinatura com pagamento.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44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CAMINHO ATÉ A PRIMEIRA VENDA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Um portão comercial antes de construir o resto.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011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Dez sprints até a versão completa é tempo demais para descobrir se alguém paga. Por isso existe o Piloto Zero: em dezembro, três corretores usam a captura na carteira real e pagam um valor simbólico. O objetivo não é faturar, é medir disposição a pagar.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3154680"/>
            <a:ext cx="1629613" cy="32004"/>
          </a:xfrm>
          <a:prstGeom prst="rect">
            <a:avLst/>
          </a:prstGeom>
          <a:solidFill>
            <a:srgbClr val="0F9D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CONCLUÍDO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Fundação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Banco, fila, gateway, imagem, marca e página pública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07437" y="3154680"/>
            <a:ext cx="1629613" cy="32004"/>
          </a:xfrm>
          <a:prstGeom prst="rect">
            <a:avLst/>
          </a:prstGeom>
          <a:solidFill>
            <a:srgbClr val="3932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07437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— OUT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2507437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Captura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507437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Aplicativo, voz, extração com confiança e áudio-âncora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356506" y="3154680"/>
            <a:ext cx="1629613" cy="32004"/>
          </a:xfrm>
          <a:prstGeom prst="rect">
            <a:avLst/>
          </a:prstGeom>
          <a:solidFill>
            <a:srgbClr val="3932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56506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NOV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4356506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Fotos e texto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356506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Tratamento, anonimização, redação e compliance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05576" y="3154680"/>
            <a:ext cx="1629613" cy="32004"/>
          </a:xfrm>
          <a:prstGeom prst="rect">
            <a:avLst/>
          </a:prstGeom>
          <a:solidFill>
            <a:srgbClr val="3932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05576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DEZ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205576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Publicação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205576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Página, WhatsApp, lead e cobrança definida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054645" y="3154680"/>
            <a:ext cx="1629613" cy="32004"/>
          </a:xfrm>
          <a:prstGeom prst="rect">
            <a:avLst/>
          </a:prstGeom>
          <a:solidFill>
            <a:srgbClr val="E844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54645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DEZ · PORTÃO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8054645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Piloto Zero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054645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corretores reais, 2 semanas. Sem aprovação aqui, não se constrói o CRM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903714" y="3154680"/>
            <a:ext cx="1629613" cy="32004"/>
          </a:xfrm>
          <a:prstGeom prst="rect">
            <a:avLst/>
          </a:prstGeom>
          <a:solidFill>
            <a:srgbClr val="3932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03714" y="3291840"/>
            <a:ext cx="1629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JAN — FEV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9903714" y="3511296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CRM e encontro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903714" y="3822192"/>
            <a:ext cx="16296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Funil, busca comprador × imóvel, painel de custo, lojas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512064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A79C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portão tem critério objetivo: 70% dos imóveis cadastrados por voz, mediana abaixo de 15 minutos, anúncios publicados com edição leve, e ao menos um corretor pagando por vontade própria. Falhando, a decisão é corrigir a captura — não construir CRM sobre uma captura que ninguém quis.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431" y="475488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73207" y="61447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566928"/>
            <a:ext cx="10234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COMO SABEREMOS QUE DEU CERTO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1087495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spc="-8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Seis números, decididos antes de começar.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59536" y="233172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ADOÇÃO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255117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70% por voz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59536" y="2898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imóveis cadastrados no período, ao menos setenta por cento entram pela captura falada.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74794" y="214884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75962" y="233172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VELOCIDADE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75962" y="255117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Menos de 15 minutos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5962" y="2898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da primeira gravação ao anúncio publicado.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1221" y="214884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92389" y="233172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QUALIDADE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292389" y="255117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60% com edição leve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92389" y="2898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maioria das descrições publicada alterando menos de um quinto do texto. Mede o que o corretor fez, não o que ele disse.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58368" y="379476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59536" y="397764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419709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Menos de R$ 3 por imóvel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54456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 disso, o gateway rebaixa a qualidade do modelo automaticamente e registra o rebaixamento.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374794" y="379476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575962" y="397764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USO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575962" y="419709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 corretores por semana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575962" y="454456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Usando sem nenhum incentivo para usar.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091221" y="3794760"/>
            <a:ext cx="344210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292389" y="3977640"/>
            <a:ext cx="30397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C1B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RECEITA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292389" y="4197096"/>
            <a:ext cx="30397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spc="-20" kern="0" dirty="0">
                <a:solidFill>
                  <a:srgbClr val="12100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 assinaturas pagas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8292389" y="454456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fim do piloto. Uma delas já no Piloto Zero, em dezembro.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539496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E68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Falhar em adoção, em qualidade ou em receita significa repensar o produto — não iterar o código. E há uma métrica que nunca pode piorar: invenção de característica que o imóvel não tem. A meta é zero, e uma regressão nela para a venda até ser resolvida.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219456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spc="-16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Grave por três minutos.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spc="-16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anúncio sai 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spc="-160" kern="0" dirty="0">
                <a:solidFill>
                  <a:srgbClr val="E8443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pronto</a:t>
            </a:r>
            <a:pPr indent="0" marL="0">
              <a:lnSpc>
                <a:spcPct val="108000"/>
              </a:lnSpc>
              <a:buNone/>
            </a:pPr>
            <a:r>
              <a:rPr lang="en-US" sz="4200" b="1" spc="-160" kern="0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4855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propto.com.br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41648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WHATSAPP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041648" y="4855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+55 19 99805-1985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4928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RESPONSÁVEL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424928" y="48554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8F5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Rodrigo Viana · CRECI-SP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propto.com.br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961327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C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 produto PrimeCorp Brokers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Propto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Propto — apresentação institucional</dc:title>
  <dc:subject>PptxGenJS Presentation</dc:subject>
  <dc:creator>PrimeCorp Brokers</dc:creator>
  <cp:lastModifiedBy>PrimeCorp Brokers</cp:lastModifiedBy>
  <cp:revision>1</cp:revision>
  <dcterms:created xsi:type="dcterms:W3CDTF">2026-09-02T15:20:03Z</dcterms:created>
  <dcterms:modified xsi:type="dcterms:W3CDTF">2026-09-02T15:20:03Z</dcterms:modified>
</cp:coreProperties>
</file>